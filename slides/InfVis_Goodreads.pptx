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64176" autoAdjust="0"/>
  </p:normalViewPr>
  <p:slideViewPr>
    <p:cSldViewPr snapToGrid="0" snapToObjects="1">
      <p:cViewPr varScale="1">
        <p:scale>
          <a:sx n="57" d="100"/>
          <a:sy n="57" d="100"/>
        </p:scale>
        <p:origin x="62" y="230"/>
      </p:cViewPr>
      <p:guideLst/>
    </p:cSldViewPr>
  </p:slideViewPr>
  <p:notesTextViewPr>
    <p:cViewPr>
      <p:scale>
        <a:sx n="1" d="1"/>
        <a:sy n="1" d="1"/>
      </p:scale>
      <p:origin x="0" y="-891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6841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My teammate already talked about Magic Lenses, especially </a:t>
            </a:r>
            <a:r>
              <a:rPr lang="en-US" sz="1200" dirty="0" err="1"/>
              <a:t>ChronoLenses</a:t>
            </a:r>
            <a:r>
              <a:rPr lang="en-US" sz="1200" dirty="0"/>
              <a:t>.</a:t>
            </a:r>
            <a:endParaRPr lang="en-US" dirty="0"/>
          </a:p>
          <a:p>
            <a:endParaRPr lang="en-US" dirty="0"/>
          </a:p>
          <a:p>
            <a:r>
              <a:rPr lang="en-US" sz="1200" dirty="0"/>
              <a:t>My part adds another perspective. I focus on a combination of Sampling Lens and Labeling Lens.</a:t>
            </a:r>
            <a:endParaRPr lang="en-US" dirty="0"/>
          </a:p>
          <a:p>
            <a:endParaRPr lang="en-US" dirty="0"/>
          </a:p>
          <a:p>
            <a:r>
              <a:rPr lang="en-US" sz="1200" dirty="0"/>
              <a:t>For this part, we use the Goodreads Books dataset from Kaggle. Each row in the CSV is one book</a:t>
            </a:r>
          </a:p>
          <a:p>
            <a:endParaRPr lang="en-US" dirty="0"/>
          </a:p>
          <a:p>
            <a:r>
              <a:rPr lang="en-US" sz="1200" dirty="0"/>
              <a:t>The goal is: using the data to find interesting books. the user can filter the data, change the axes, and inspect books with the lens.</a:t>
            </a:r>
          </a:p>
          <a:p>
            <a:endParaRPr lang="en-US" sz="1200" dirty="0"/>
          </a:p>
          <a:p>
            <a:r>
              <a:rPr lang="en-US" dirty="0">
                <a:solidFill>
                  <a:srgbClr val="1F2937"/>
                </a:solidFill>
              </a:rPr>
              <a:t>The lens adds local detail without losing the global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Next the data abstraction.</a:t>
            </a:r>
            <a:endParaRPr lang="en-US" dirty="0"/>
          </a:p>
          <a:p>
            <a:endParaRPr lang="en-US" dirty="0"/>
          </a:p>
          <a:p>
            <a:r>
              <a:rPr lang="en-US" sz="1200" dirty="0"/>
              <a:t>The dataset becomes a data table. Title and authors are nominal attributes. Rating, pages and ratings count are quantitative attributes.</a:t>
            </a:r>
            <a:endParaRPr lang="en-US" dirty="0"/>
          </a:p>
          <a:p>
            <a:endParaRPr lang="en-US" dirty="0"/>
          </a:p>
          <a:p>
            <a:r>
              <a:rPr lang="en-US" sz="1200" dirty="0"/>
              <a:t>Publication year is derived from the publication date. We use it as a temporal attribute, and also as a quantitative value for axes and filters.</a:t>
            </a:r>
            <a:endParaRPr lang="en-US" dirty="0"/>
          </a:p>
          <a:p>
            <a:endParaRPr lang="en-US" sz="1200" dirty="0"/>
          </a:p>
          <a:p>
            <a:r>
              <a:rPr lang="de-DE" dirty="0"/>
              <a:t>Genre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special</a:t>
            </a:r>
            <a:r>
              <a:rPr lang="de-DE" dirty="0"/>
              <a:t> </a:t>
            </a:r>
            <a:r>
              <a:rPr lang="de-DE" dirty="0" err="1"/>
              <a:t>case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</a:t>
            </a:r>
          </a:p>
          <a:p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part</a:t>
            </a:r>
            <a:r>
              <a:rPr lang="de-DE" dirty="0"/>
              <a:t> of </a:t>
            </a:r>
            <a:r>
              <a:rPr lang="de-DE" dirty="0" err="1"/>
              <a:t>the</a:t>
            </a:r>
            <a:r>
              <a:rPr lang="de-DE" dirty="0"/>
              <a:t> original </a:t>
            </a:r>
            <a:r>
              <a:rPr lang="de-DE" dirty="0" err="1"/>
              <a:t>Kaggle</a:t>
            </a:r>
            <a:r>
              <a:rPr lang="de-DE" dirty="0"/>
              <a:t> </a:t>
            </a:r>
            <a:r>
              <a:rPr lang="de-DE" dirty="0" err="1"/>
              <a:t>dataset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In </a:t>
            </a:r>
            <a:r>
              <a:rPr lang="de-DE" dirty="0" err="1"/>
              <a:t>the</a:t>
            </a:r>
            <a:r>
              <a:rPr lang="de-DE" dirty="0"/>
              <a:t> code, I </a:t>
            </a:r>
            <a:r>
              <a:rPr lang="de-DE" dirty="0" err="1"/>
              <a:t>infer</a:t>
            </a:r>
            <a:r>
              <a:rPr lang="de-DE" dirty="0"/>
              <a:t> a </a:t>
            </a:r>
            <a:r>
              <a:rPr lang="de-DE" dirty="0" err="1"/>
              <a:t>genre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regex-based</a:t>
            </a:r>
            <a:r>
              <a:rPr lang="de-DE" dirty="0"/>
              <a:t> </a:t>
            </a:r>
            <a:r>
              <a:rPr lang="de-DE" dirty="0" err="1"/>
              <a:t>keyword</a:t>
            </a:r>
            <a:r>
              <a:rPr lang="de-DE" dirty="0"/>
              <a:t> </a:t>
            </a:r>
            <a:r>
              <a:rPr lang="de-DE" dirty="0" err="1"/>
              <a:t>rules</a:t>
            </a:r>
            <a:r>
              <a:rPr lang="de-DE" dirty="0"/>
              <a:t>.</a:t>
            </a:r>
          </a:p>
          <a:p>
            <a:r>
              <a:rPr lang="de-DE" dirty="0"/>
              <a:t>The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checks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book</a:t>
            </a:r>
            <a:r>
              <a:rPr lang="de-DE" dirty="0"/>
              <a:t> title and </a:t>
            </a:r>
            <a:r>
              <a:rPr lang="de-DE" dirty="0" err="1"/>
              <a:t>author</a:t>
            </a:r>
            <a:r>
              <a:rPr lang="de-DE" dirty="0"/>
              <a:t> </a:t>
            </a:r>
            <a:r>
              <a:rPr lang="de-DE" dirty="0" err="1"/>
              <a:t>names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words</a:t>
            </a:r>
            <a:r>
              <a:rPr lang="de-DE" dirty="0"/>
              <a:t> like </a:t>
            </a:r>
            <a:r>
              <a:rPr lang="de-DE" dirty="0" err="1"/>
              <a:t>wizard</a:t>
            </a:r>
            <a:r>
              <a:rPr lang="de-DE" dirty="0"/>
              <a:t>, </a:t>
            </a:r>
            <a:r>
              <a:rPr lang="de-DE" dirty="0" err="1"/>
              <a:t>dragon</a:t>
            </a:r>
            <a:r>
              <a:rPr lang="de-DE" dirty="0"/>
              <a:t>, </a:t>
            </a:r>
            <a:r>
              <a:rPr lang="de-DE" dirty="0" err="1"/>
              <a:t>crime</a:t>
            </a:r>
            <a:r>
              <a:rPr lang="de-DE" dirty="0"/>
              <a:t>, </a:t>
            </a:r>
            <a:r>
              <a:rPr lang="de-DE" dirty="0" err="1"/>
              <a:t>detective</a:t>
            </a:r>
            <a:r>
              <a:rPr lang="de-DE" dirty="0"/>
              <a:t>, </a:t>
            </a:r>
            <a:r>
              <a:rPr lang="de-DE" dirty="0" err="1"/>
              <a:t>romance</a:t>
            </a:r>
            <a:r>
              <a:rPr lang="de-DE" dirty="0"/>
              <a:t>, </a:t>
            </a:r>
            <a:r>
              <a:rPr lang="de-DE" dirty="0" err="1"/>
              <a:t>horror</a:t>
            </a:r>
            <a:r>
              <a:rPr lang="de-DE" dirty="0"/>
              <a:t>, and so on.</a:t>
            </a:r>
          </a:p>
          <a:p>
            <a:r>
              <a:rPr lang="de-DE" dirty="0"/>
              <a:t>So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ground-truth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heuristic</a:t>
            </a:r>
            <a:r>
              <a:rPr lang="de-DE" dirty="0"/>
              <a:t>. And </a:t>
            </a:r>
            <a:r>
              <a:rPr lang="de-DE" dirty="0" err="1"/>
              <a:t>its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lens</a:t>
            </a:r>
            <a:r>
              <a:rPr lang="de-DE" dirty="0"/>
              <a:t> </a:t>
            </a:r>
            <a:r>
              <a:rPr lang="de-DE" dirty="0" err="1"/>
              <a:t>filter</a:t>
            </a:r>
            <a:r>
              <a:rPr lang="de-DE" dirty="0"/>
              <a:t> </a:t>
            </a:r>
            <a:r>
              <a:rPr lang="de-DE" dirty="0" err="1"/>
              <a:t>suppression</a:t>
            </a:r>
            <a:r>
              <a:rPr lang="de-DE" dirty="0"/>
              <a:t>.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de-DE" dirty="0"/>
              <a:t>Here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genre</a:t>
            </a:r>
            <a:r>
              <a:rPr lang="de-DE" dirty="0"/>
              <a:t> </a:t>
            </a:r>
            <a:r>
              <a:rPr lang="de-DE" dirty="0" err="1"/>
              <a:t>inference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code.</a:t>
            </a:r>
          </a:p>
          <a:p>
            <a:r>
              <a:rPr lang="de-DE" dirty="0"/>
              <a:t>The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combines</a:t>
            </a:r>
            <a:r>
              <a:rPr lang="de-DE" dirty="0"/>
              <a:t> title and </a:t>
            </a:r>
            <a:r>
              <a:rPr lang="de-DE" dirty="0" err="1"/>
              <a:t>author</a:t>
            </a:r>
            <a:r>
              <a:rPr lang="de-DE" dirty="0"/>
              <a:t> </a:t>
            </a:r>
            <a:r>
              <a:rPr lang="de-DE" dirty="0" err="1"/>
              <a:t>names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string</a:t>
            </a:r>
            <a:r>
              <a:rPr lang="de-DE" dirty="0"/>
              <a:t>, </a:t>
            </a:r>
            <a:r>
              <a:rPr lang="de-DE" dirty="0" err="1"/>
              <a:t>converts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lowercase</a:t>
            </a:r>
            <a:r>
              <a:rPr lang="de-DE" dirty="0"/>
              <a:t>, and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checks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against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dirty="0"/>
              <a:t> </a:t>
            </a:r>
            <a:r>
              <a:rPr lang="de-DE" dirty="0" err="1"/>
              <a:t>regular</a:t>
            </a:r>
            <a:r>
              <a:rPr lang="de-DE" dirty="0"/>
              <a:t> </a:t>
            </a:r>
            <a:r>
              <a:rPr lang="de-DE" dirty="0" err="1"/>
              <a:t>expression</a:t>
            </a:r>
            <a:r>
              <a:rPr lang="de-DE" dirty="0"/>
              <a:t> </a:t>
            </a:r>
            <a:r>
              <a:rPr lang="de-DE" dirty="0" err="1"/>
              <a:t>rules</a:t>
            </a:r>
            <a:r>
              <a:rPr lang="de-DE" dirty="0"/>
              <a:t>.</a:t>
            </a:r>
          </a:p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rule</a:t>
            </a:r>
            <a:r>
              <a:rPr lang="de-DE" dirty="0"/>
              <a:t> </a:t>
            </a:r>
            <a:r>
              <a:rPr lang="de-DE" dirty="0" err="1"/>
              <a:t>matches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book</a:t>
            </a:r>
            <a:r>
              <a:rPr lang="de-DE" dirty="0"/>
              <a:t> </a:t>
            </a:r>
            <a:r>
              <a:rPr lang="de-DE" dirty="0" err="1"/>
              <a:t>gets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genre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rule</a:t>
            </a:r>
            <a:r>
              <a:rPr lang="de-DE" dirty="0"/>
              <a:t> </a:t>
            </a:r>
            <a:r>
              <a:rPr lang="de-DE" dirty="0" err="1"/>
              <a:t>matches</a:t>
            </a:r>
            <a:r>
              <a:rPr lang="de-DE" dirty="0"/>
              <a:t>, </a:t>
            </a:r>
            <a:r>
              <a:rPr lang="de-DE" dirty="0" err="1"/>
              <a:t>it</a:t>
            </a:r>
            <a:r>
              <a:rPr lang="de-DE" dirty="0"/>
              <a:t> falls </a:t>
            </a:r>
            <a:r>
              <a:rPr lang="de-DE" dirty="0" err="1"/>
              <a:t>into</a:t>
            </a:r>
            <a:r>
              <a:rPr lang="de-DE" dirty="0"/>
              <a:t> “</a:t>
            </a:r>
            <a:r>
              <a:rPr lang="de-DE" dirty="0" err="1"/>
              <a:t>other</a:t>
            </a:r>
            <a:r>
              <a:rPr lang="de-DE" dirty="0"/>
              <a:t>”.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To make the dataset easier to use, we turn the table into an interactive scatterplot.</a:t>
            </a:r>
            <a:endParaRPr lang="en-US"/>
          </a:p>
          <a:p>
            <a:endParaRPr lang="en-US"/>
          </a:p>
          <a:p>
            <a:r>
              <a:rPr lang="en-US" sz="1200"/>
              <a:t>Each dot represents one book. The user can change the x-axis and y-axis depending on what they want to look for.</a:t>
            </a:r>
            <a:endParaRPr lang="en-US"/>
          </a:p>
          <a:p>
            <a:endParaRPr lang="en-US"/>
          </a:p>
          <a:p>
            <a:r>
              <a:rPr lang="en-US" sz="1200"/>
              <a:t>The size of a dot shows how many ratings the book has. The color shows the language.</a:t>
            </a:r>
            <a:endParaRPr lang="en-US"/>
          </a:p>
          <a:p>
            <a:endParaRPr lang="en-US"/>
          </a:p>
          <a:p>
            <a:r>
              <a:rPr lang="en-US" sz="1200"/>
              <a:t>We do not show all labels at once, because that would make the plot unreadable. Labels appear only locally through the lens.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This is the core interaction of my part.</a:t>
            </a:r>
            <a:endParaRPr lang="en-US" dirty="0"/>
          </a:p>
          <a:p>
            <a:endParaRPr lang="en-US" dirty="0"/>
          </a:p>
          <a:p>
            <a:r>
              <a:rPr lang="en-US" sz="1200" dirty="0"/>
              <a:t>The circular lens selects a local area. Inside this area, the selected genre acts as a local filter.</a:t>
            </a:r>
            <a:endParaRPr lang="en-US" dirty="0"/>
          </a:p>
          <a:p>
            <a:endParaRPr lang="en-US" dirty="0"/>
          </a:p>
          <a:p>
            <a:r>
              <a:rPr lang="en-US" sz="1200" dirty="0"/>
              <a:t>Books that do not match the selected genre are hidden inside the lens. This is the suppression part, this is what is called Sampling Lens.</a:t>
            </a:r>
            <a:endParaRPr lang="en-US" dirty="0"/>
          </a:p>
          <a:p>
            <a:endParaRPr lang="en-US" dirty="0"/>
          </a:p>
          <a:p>
            <a:r>
              <a:rPr lang="en-US" sz="1200" dirty="0"/>
              <a:t>The matching books get labels and a detail card. This is the enrichment part, similar to a Labeling Lens.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The second interaction is the rectangular focus region.</a:t>
            </a:r>
            <a:endParaRPr lang="en-US" dirty="0"/>
          </a:p>
          <a:p>
            <a:endParaRPr lang="en-US" dirty="0"/>
          </a:p>
          <a:p>
            <a:r>
              <a:rPr lang="en-US" sz="1200" dirty="0"/>
              <a:t>The circular lens is good for quick inspection, but it follows the mouse. In dense areas, that can be hard to control.</a:t>
            </a:r>
            <a:endParaRPr lang="en-US" dirty="0"/>
          </a:p>
          <a:p>
            <a:endParaRPr lang="en-US" dirty="0"/>
          </a:p>
          <a:p>
            <a:r>
              <a:rPr lang="en-US" sz="1200" dirty="0"/>
              <a:t>The focus region solves this. The user draws a rectangle around a dense or interesting part of the scatterplot, and the lower chart zooms into exactly that area.</a:t>
            </a:r>
            <a:endParaRPr lang="en-US" dirty="0"/>
          </a:p>
          <a:p>
            <a:endParaRPr lang="en-US" dirty="0"/>
          </a:p>
          <a:p>
            <a:r>
              <a:rPr lang="en-US" sz="1200" dirty="0"/>
              <a:t>The box can be moved and resized, so the user can adjust the zoomed region without changing the whole base view.</a:t>
            </a:r>
            <a:endParaRPr lang="en-US" dirty="0"/>
          </a:p>
          <a:p>
            <a:endParaRPr lang="en-US" dirty="0"/>
          </a:p>
          <a:p>
            <a:r>
              <a:rPr lang="en-US" sz="1200" dirty="0"/>
              <a:t>This is useful when many books are close together and individual points are hard to inspect in the main plot.</a:t>
            </a:r>
            <a:endParaRPr lang="en-US" dirty="0"/>
          </a:p>
          <a:p>
            <a:endParaRPr lang="en-US" dirty="0"/>
          </a:p>
          <a:p>
            <a:r>
              <a:rPr lang="de-DE" dirty="0"/>
              <a:t>So The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includes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concept</a:t>
            </a:r>
            <a:r>
              <a:rPr lang="de-DE" dirty="0"/>
              <a:t> of multiple </a:t>
            </a:r>
            <a:r>
              <a:rPr lang="de-DE" dirty="0" err="1"/>
              <a:t>visual</a:t>
            </a:r>
            <a:r>
              <a:rPr lang="de-DE" dirty="0"/>
              <a:t> </a:t>
            </a:r>
            <a:r>
              <a:rPr lang="de-DE" dirty="0" err="1"/>
              <a:t>layers</a:t>
            </a:r>
            <a:r>
              <a:rPr lang="de-DE" dirty="0"/>
              <a:t>: </a:t>
            </a:r>
            <a:r>
              <a:rPr lang="de-DE" dirty="0" err="1"/>
              <a:t>overview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, </a:t>
            </a:r>
            <a:r>
              <a:rPr lang="de-DE" dirty="0" err="1"/>
              <a:t>filtering</a:t>
            </a:r>
            <a:r>
              <a:rPr lang="de-DE" dirty="0"/>
              <a:t>, and </a:t>
            </a:r>
            <a:r>
              <a:rPr lang="de-DE" dirty="0" err="1"/>
              <a:t>details</a:t>
            </a:r>
            <a:r>
              <a:rPr lang="de-DE" dirty="0"/>
              <a:t> on </a:t>
            </a:r>
            <a:r>
              <a:rPr lang="de-DE" dirty="0" err="1"/>
              <a:t>demand</a:t>
            </a:r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scatterplot</a:t>
            </a:r>
            <a:r>
              <a:rPr lang="de-DE" dirty="0"/>
              <a:t> </a:t>
            </a:r>
            <a:r>
              <a:rPr lang="de-DE" dirty="0" err="1"/>
              <a:t>gives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overview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filters</a:t>
            </a:r>
            <a:r>
              <a:rPr lang="de-DE" dirty="0"/>
              <a:t> </a:t>
            </a:r>
            <a:r>
              <a:rPr lang="de-DE" dirty="0" err="1"/>
              <a:t>narrow</a:t>
            </a:r>
            <a:r>
              <a:rPr lang="de-DE" dirty="0"/>
              <a:t> down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dataset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lens</a:t>
            </a:r>
            <a:r>
              <a:rPr lang="de-DE" dirty="0"/>
              <a:t> </a:t>
            </a:r>
            <a:r>
              <a:rPr lang="de-DE" dirty="0" err="1"/>
              <a:t>shows</a:t>
            </a:r>
            <a:r>
              <a:rPr lang="de-DE" dirty="0"/>
              <a:t> </a:t>
            </a: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details</a:t>
            </a:r>
            <a:r>
              <a:rPr lang="de-DE" dirty="0"/>
              <a:t>, and </a:t>
            </a:r>
            <a:r>
              <a:rPr lang="de-DE" dirty="0" err="1"/>
              <a:t>the</a:t>
            </a:r>
            <a:r>
              <a:rPr lang="de-DE" dirty="0"/>
              <a:t> zoom </a:t>
            </a:r>
            <a:r>
              <a:rPr lang="de-DE" dirty="0" err="1"/>
              <a:t>layer</a:t>
            </a:r>
            <a:r>
              <a:rPr lang="de-DE" dirty="0"/>
              <a:t> </a:t>
            </a:r>
            <a:r>
              <a:rPr lang="de-DE" dirty="0" err="1"/>
              <a:t>helps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an </a:t>
            </a:r>
            <a:r>
              <a:rPr lang="de-DE" dirty="0" err="1"/>
              <a:t>area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too</a:t>
            </a:r>
            <a:r>
              <a:rPr lang="de-DE" dirty="0"/>
              <a:t> </a:t>
            </a:r>
            <a:r>
              <a:rPr lang="de-DE" dirty="0" err="1"/>
              <a:t>dense</a:t>
            </a:r>
            <a:r>
              <a:rPr lang="de-DE" dirty="0"/>
              <a:t>.</a:t>
            </a:r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2C3E66"/>
                </a:solidFill>
              </a:rPr>
              <a:t>DATASET AND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800" b="1">
                <a:solidFill>
                  <a:srgbClr val="1F2937"/>
                </a:solidFill>
              </a:rPr>
              <a:t>Goodreads Books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63500" bIns="0" rtlCol="0" anchor="t"/>
          <a:lstStyle/>
          <a:p>
            <a:r>
              <a:rPr dirty="0"/>
              <a:t>• Source: Kaggle Goodreads-books dataset</a:t>
            </a:r>
            <a:endParaRPr lang="de-DE" dirty="0"/>
          </a:p>
          <a:p>
            <a:endParaRPr dirty="0"/>
          </a:p>
          <a:p>
            <a:r>
              <a:rPr dirty="0"/>
              <a:t>• One row represents one book / information object</a:t>
            </a:r>
            <a:endParaRPr lang="de-DE" dirty="0"/>
          </a:p>
          <a:p>
            <a:endParaRPr dirty="0"/>
          </a:p>
          <a:p>
            <a:r>
              <a:rPr dirty="0"/>
              <a:t>• Goal: find interesting books by filtering the data and inspecting details</a:t>
            </a:r>
            <a:endParaRPr lang="de-DE" dirty="0"/>
          </a:p>
          <a:p>
            <a:endParaRPr dirty="0"/>
          </a:p>
          <a:p>
            <a:r>
              <a:rPr dirty="0"/>
              <a:t>• </a:t>
            </a:r>
            <a:r>
              <a:rPr lang="en-US" dirty="0">
                <a:solidFill>
                  <a:srgbClr val="1F2937"/>
                </a:solidFill>
              </a:rPr>
              <a:t>The lens adds local detail without losing the global overview</a:t>
            </a:r>
            <a:endParaRPr dirty="0"/>
          </a:p>
        </p:txBody>
      </p:sp>
      <p:sp>
        <p:nvSpPr>
          <p:cNvPr id="5" name="Shape 3"/>
          <p:cNvSpPr/>
          <p:nvPr/>
        </p:nvSpPr>
        <p:spPr>
          <a:xfrm>
            <a:off x="4617720" y="1325880"/>
            <a:ext cx="4397071" cy="2889504"/>
          </a:xfrm>
          <a:prstGeom prst="roundRect">
            <a:avLst>
              <a:gd name="adj" fmla="val 2254"/>
            </a:avLst>
          </a:prstGeom>
          <a:solidFill>
            <a:srgbClr val="F3F6F8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120640" y="158191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120640" y="158191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120640" y="2414016"/>
            <a:ext cx="3291840" cy="0"/>
          </a:xfrm>
          <a:prstGeom prst="line">
            <a:avLst/>
          </a:prstGeom>
          <a:noFill/>
          <a:ln w="12700">
            <a:solidFill>
              <a:srgbClr val="5B65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120640" y="21031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21031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18704" y="21031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0" y="2542032"/>
            <a:ext cx="1580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Hobbit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2542032"/>
            <a:ext cx="1580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18704" y="2542032"/>
            <a:ext cx="1580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871216"/>
            <a:ext cx="3474720" cy="329184"/>
          </a:xfrm>
          <a:prstGeom prst="roundRect">
            <a:avLst>
              <a:gd name="adj" fmla="val 11111"/>
            </a:avLst>
          </a:prstGeom>
          <a:solidFill>
            <a:srgbClr val="E8871E">
              <a:alpha val="15000"/>
            </a:srgbClr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120640" y="2926080"/>
            <a:ext cx="1580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2926080"/>
            <a:ext cx="1580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18704" y="2926080"/>
            <a:ext cx="1580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one book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120640" y="3310128"/>
            <a:ext cx="1580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0" y="3310128"/>
            <a:ext cx="1580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18704" y="3310128"/>
            <a:ext cx="1580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3694176"/>
            <a:ext cx="1580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3694176"/>
            <a:ext cx="1580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18704" y="3694176"/>
            <a:ext cx="1580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46451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0">
                <a:solidFill>
                  <a:srgbClr val="4B5563"/>
                </a:solidFill>
              </a:rPr>
              <a:t>one CSV row → one book as information object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Information Visualization  ·  Medieninformatik, M.Sc.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6676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F60BB76B-D34D-89F2-8160-C3D353F07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025" y="2104450"/>
            <a:ext cx="4063070" cy="1917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2C3E66"/>
                </a:solidFill>
              </a:rPr>
              <a:t>DATA ABSTRACTION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800" b="1">
                <a:solidFill>
                  <a:srgbClr val="1F2937"/>
                </a:solidFill>
              </a:rPr>
              <a:t>From CSV rows to book attributes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4215384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/>
        </p:spPr>
        <p:txBody>
          <a:bodyPr lIns="152400" tIns="50800" rIns="152400" bIns="50800" anchor="ctr"/>
          <a:lstStyle/>
          <a:p>
            <a:r>
              <a:rPr sz="1400" i="1" dirty="0"/>
              <a:t>Note: Genre is inferred from title and author keywords. It is </a:t>
            </a:r>
            <a:r>
              <a:rPr lang="de-DE" sz="1400" i="1" dirty="0"/>
              <a:t>a </a:t>
            </a:r>
            <a:r>
              <a:rPr lang="de-DE" sz="1400" i="1" dirty="0" err="1"/>
              <a:t>heuristic</a:t>
            </a:r>
            <a:r>
              <a:rPr lang="de-DE" sz="1400" i="1" dirty="0"/>
              <a:t>.</a:t>
            </a:r>
            <a:endParaRPr sz="1400" i="1" dirty="0"/>
          </a:p>
        </p:txBody>
      </p:sp>
      <p:sp>
        <p:nvSpPr>
          <p:cNvPr id="7" name="Text 4"/>
          <p:cNvSpPr/>
          <p:nvPr/>
        </p:nvSpPr>
        <p:spPr>
          <a:xfrm>
            <a:off x="45720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800">
                <a:solidFill>
                  <a:srgbClr val="4B5563"/>
                </a:solidFill>
              </a:rPr>
              <a:t>Interactive Information Visualization  ·  Medieninformatik, M.Sc.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36676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646720"/>
              </p:ext>
            </p:extLst>
          </p:nvPr>
        </p:nvGraphicFramePr>
        <p:xfrm>
          <a:off x="457200" y="1389924"/>
          <a:ext cx="4496463" cy="2622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4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Attribute</a:t>
                      </a:r>
                    </a:p>
                  </a:txBody>
                  <a:tcPr marL="76200" marR="76200" marT="38100" marB="38100"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L="76200" marR="76200" marT="38100" marB="38100"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1" dirty="0" err="1">
                          <a:solidFill>
                            <a:srgbClr val="FFFFFF"/>
                          </a:solidFill>
                        </a:rPr>
                        <a:t>Used</a:t>
                      </a:r>
                      <a:r>
                        <a:rPr lang="de-DE"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de-DE" sz="1200" b="1" dirty="0" err="1">
                          <a:solidFill>
                            <a:srgbClr val="FFFFFF"/>
                          </a:solidFill>
                        </a:rPr>
                        <a:t>for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>
                    <a:solidFill>
                      <a:srgbClr val="2C3E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title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nominal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labels and detail card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authors</a:t>
                      </a:r>
                    </a:p>
                  </a:txBody>
                  <a:tcPr marL="76200" marR="762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F2937"/>
                          </a:solidFill>
                        </a:rPr>
                        <a:t>nominal</a:t>
                      </a:r>
                    </a:p>
                  </a:txBody>
                  <a:tcPr marL="76200" marR="762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detail card</a:t>
                      </a:r>
                    </a:p>
                  </a:txBody>
                  <a:tcPr marL="76200" marR="76200" marT="38100" marB="38100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average rating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quantitative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axis, filter, detail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number of pages</a:t>
                      </a:r>
                    </a:p>
                  </a:txBody>
                  <a:tcPr marL="76200" marR="762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quantitative</a:t>
                      </a:r>
                    </a:p>
                  </a:txBody>
                  <a:tcPr marL="76200" marR="762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axis, filter, detail</a:t>
                      </a:r>
                    </a:p>
                  </a:txBody>
                  <a:tcPr marL="76200" marR="76200" marT="38100" marB="38100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ratings count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quantitative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size, axis, filter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4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publication year</a:t>
                      </a:r>
                    </a:p>
                  </a:txBody>
                  <a:tcPr marL="76200" marR="762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temporal / quantitative</a:t>
                      </a:r>
                    </a:p>
                  </a:txBody>
                  <a:tcPr marL="76200" marR="762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axis and filter</a:t>
                      </a:r>
                    </a:p>
                  </a:txBody>
                  <a:tcPr marL="76200" marR="76200" marT="38100" marB="38100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4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language code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nominal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color encoding</a:t>
                      </a:r>
                    </a:p>
                  </a:txBody>
                  <a:tcPr marL="76200" marR="76200" marT="38100" marB="381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4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inferred genre</a:t>
                      </a:r>
                    </a:p>
                  </a:txBody>
                  <a:tcPr marL="76200" marR="762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</a:rPr>
                        <a:t>derived nominal</a:t>
                      </a:r>
                    </a:p>
                  </a:txBody>
                  <a:tcPr marL="76200" marR="762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F2937"/>
                          </a:solidFill>
                        </a:rPr>
                        <a:t>lens filter / suppression</a:t>
                      </a:r>
                    </a:p>
                  </a:txBody>
                  <a:tcPr marL="76200" marR="76200" marT="38100" marB="38100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hape 3">
            <a:extLst>
              <a:ext uri="{FF2B5EF4-FFF2-40B4-BE49-F238E27FC236}">
                <a16:creationId xmlns:a16="http://schemas.microsoft.com/office/drawing/2014/main" id="{7974B7B3-CA0E-1773-5A40-9D6DA0BD502E}"/>
              </a:ext>
            </a:extLst>
          </p:cNvPr>
          <p:cNvSpPr/>
          <p:nvPr/>
        </p:nvSpPr>
        <p:spPr>
          <a:xfrm>
            <a:off x="5224007" y="1073426"/>
            <a:ext cx="3808675" cy="3017872"/>
          </a:xfrm>
          <a:prstGeom prst="roundRect">
            <a:avLst>
              <a:gd name="adj" fmla="val 2254"/>
            </a:avLst>
          </a:prstGeom>
          <a:solidFill>
            <a:srgbClr val="F3F6F8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33E79C9-98D4-64E5-B6B6-CB7123394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180" y="1207008"/>
            <a:ext cx="3488500" cy="28050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2C3E66"/>
                </a:solidFill>
              </a:rPr>
              <a:t>VISUAL ENCODING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800" b="1">
                <a:solidFill>
                  <a:srgbClr val="1F2937"/>
                </a:solidFill>
              </a:rPr>
              <a:t>How the data becomes visible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63500" bIns="0" rtlCol="0" anchor="t"/>
          <a:lstStyle/>
          <a:p>
            <a:r>
              <a:t>• The table is shown as a 2D scatterplot</a:t>
            </a:r>
          </a:p>
          <a:p>
            <a:r>
              <a:t>• One dot represents one book</a:t>
            </a:r>
          </a:p>
          <a:p>
            <a:r>
              <a:t>• X/Y axes can be changed depending on the question</a:t>
            </a:r>
          </a:p>
          <a:p>
            <a:r>
              <a:t>• Dot size shows number of ratings; color shows language</a:t>
            </a:r>
          </a:p>
          <a:p>
            <a:r>
              <a:t>• Labels stay local, so the base view stays readable</a:t>
            </a:r>
          </a:p>
        </p:txBody>
      </p:sp>
      <p:sp>
        <p:nvSpPr>
          <p:cNvPr id="5" name="Shape 3"/>
          <p:cNvSpPr/>
          <p:nvPr/>
        </p:nvSpPr>
        <p:spPr>
          <a:xfrm>
            <a:off x="4846320" y="1325880"/>
            <a:ext cx="3840480" cy="3246120"/>
          </a:xfrm>
          <a:prstGeom prst="roundRect">
            <a:avLst>
              <a:gd name="adj" fmla="val 2254"/>
            </a:avLst>
          </a:prstGeom>
          <a:solidFill>
            <a:srgbClr val="F3F6F8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257800" y="3977640"/>
            <a:ext cx="3063240" cy="0"/>
          </a:xfrm>
          <a:prstGeom prst="line">
            <a:avLst/>
          </a:prstGeom>
          <a:noFill/>
          <a:ln w="15875">
            <a:solidFill>
              <a:srgbClr val="5B65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257800" y="1600200"/>
            <a:ext cx="0" cy="2377440"/>
          </a:xfrm>
          <a:prstGeom prst="line">
            <a:avLst/>
          </a:prstGeom>
          <a:noFill/>
          <a:ln w="15875">
            <a:solidFill>
              <a:srgbClr val="5B65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257800" y="403250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→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16200000">
            <a:off x="4873752" y="1581912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13832" y="2144268"/>
            <a:ext cx="100584" cy="100584"/>
          </a:xfrm>
          <a:prstGeom prst="ellipse">
            <a:avLst/>
          </a:prstGeom>
          <a:solidFill>
            <a:srgbClr val="065A82">
              <a:alpha val="9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772607" y="2633472"/>
            <a:ext cx="73152" cy="73152"/>
          </a:xfrm>
          <a:prstGeom prst="ellipse">
            <a:avLst/>
          </a:prstGeom>
          <a:solidFill>
            <a:srgbClr val="1C7293">
              <a:alpha val="9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28970" y="3200400"/>
            <a:ext cx="128016" cy="128016"/>
          </a:xfrm>
          <a:prstGeom prst="ellipse">
            <a:avLst/>
          </a:prstGeom>
          <a:solidFill>
            <a:srgbClr val="E8871E">
              <a:alpha val="9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227521" y="2462479"/>
            <a:ext cx="82296" cy="82296"/>
          </a:xfrm>
          <a:prstGeom prst="ellipse">
            <a:avLst/>
          </a:prstGeom>
          <a:solidFill>
            <a:srgbClr val="065A82">
              <a:alpha val="9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451092" y="3470148"/>
            <a:ext cx="64008" cy="64008"/>
          </a:xfrm>
          <a:prstGeom prst="ellipse">
            <a:avLst/>
          </a:prstGeom>
          <a:solidFill>
            <a:srgbClr val="5FA8D3">
              <a:alpha val="9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593738" y="2763317"/>
            <a:ext cx="146304" cy="146304"/>
          </a:xfrm>
          <a:prstGeom prst="ellipse">
            <a:avLst/>
          </a:prstGeom>
          <a:solidFill>
            <a:srgbClr val="1C7293">
              <a:alpha val="9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804965" y="2220163"/>
            <a:ext cx="91440" cy="91440"/>
          </a:xfrm>
          <a:prstGeom prst="ellipse">
            <a:avLst/>
          </a:prstGeom>
          <a:solidFill>
            <a:srgbClr val="8AA6A3">
              <a:alpha val="9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997903" y="3132734"/>
            <a:ext cx="73152" cy="73152"/>
          </a:xfrm>
          <a:prstGeom prst="ellipse">
            <a:avLst/>
          </a:prstGeom>
          <a:solidFill>
            <a:srgbClr val="E8871E">
              <a:alpha val="9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132777" y="2543861"/>
            <a:ext cx="109728" cy="109728"/>
          </a:xfrm>
          <a:prstGeom prst="ellipse">
            <a:avLst/>
          </a:prstGeom>
          <a:solidFill>
            <a:srgbClr val="065A82">
              <a:alpha val="9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360920" y="3579876"/>
            <a:ext cx="82296" cy="82296"/>
          </a:xfrm>
          <a:prstGeom prst="ellipse">
            <a:avLst/>
          </a:prstGeom>
          <a:solidFill>
            <a:srgbClr val="1C7293">
              <a:alpha val="9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472934" y="2896819"/>
            <a:ext cx="164592" cy="164592"/>
          </a:xfrm>
          <a:prstGeom prst="ellipse">
            <a:avLst/>
          </a:prstGeom>
          <a:solidFill>
            <a:srgbClr val="5FA8D3">
              <a:alpha val="9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671816" y="2371954"/>
            <a:ext cx="73152" cy="73152"/>
          </a:xfrm>
          <a:prstGeom prst="ellipse">
            <a:avLst/>
          </a:prstGeom>
          <a:solidFill>
            <a:srgbClr val="065A82">
              <a:alpha val="9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841894" y="3261665"/>
            <a:ext cx="100584" cy="100584"/>
          </a:xfrm>
          <a:prstGeom prst="ellipse">
            <a:avLst/>
          </a:prstGeom>
          <a:solidFill>
            <a:srgbClr val="E8871E">
              <a:alpha val="9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982712" y="2709367"/>
            <a:ext cx="64008" cy="64008"/>
          </a:xfrm>
          <a:prstGeom prst="ellipse">
            <a:avLst/>
          </a:prstGeom>
          <a:solidFill>
            <a:srgbClr val="8AA6A3">
              <a:alpha val="9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074359" y="1915668"/>
            <a:ext cx="82296" cy="82296"/>
          </a:xfrm>
          <a:prstGeom prst="ellipse">
            <a:avLst/>
          </a:prstGeom>
          <a:solidFill>
            <a:srgbClr val="1C7293">
              <a:alpha val="9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125005" y="1996135"/>
            <a:ext cx="64008" cy="64008"/>
          </a:xfrm>
          <a:prstGeom prst="ellipse">
            <a:avLst/>
          </a:prstGeom>
          <a:solidFill>
            <a:srgbClr val="E8871E">
              <a:alpha val="9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682435" y="3694176"/>
            <a:ext cx="91440" cy="91440"/>
          </a:xfrm>
          <a:prstGeom prst="ellipse">
            <a:avLst/>
          </a:prstGeom>
          <a:solidFill>
            <a:srgbClr val="065A82">
              <a:alpha val="9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846320" y="46451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0">
                <a:solidFill>
                  <a:srgbClr val="4B5563"/>
                </a:solidFill>
              </a:rPr>
              <a:t>visual mapping: attributes → position, size, color, and text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Information Visualization  ·  Medieninformatik, M.Sc.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6676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2C3E66"/>
                </a:solidFill>
              </a:rPr>
              <a:t>LENS INTERACTION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800" b="1">
                <a:solidFill>
                  <a:srgbClr val="1F2937"/>
                </a:solidFill>
              </a:rPr>
              <a:t>Sampling + Labeling Lens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63500" bIns="0" rtlCol="0" anchor="t"/>
          <a:lstStyle/>
          <a:p>
            <a:r>
              <a:t>• The circular lens defines the current area of interest</a:t>
            </a:r>
          </a:p>
          <a:p>
            <a:r>
              <a:t>• The selected genre acts as a local filter</a:t>
            </a:r>
          </a:p>
          <a:p>
            <a:r>
              <a:t>• Non-matching books are suppressed inside the lens</a:t>
            </a:r>
          </a:p>
          <a:p>
            <a:r>
              <a:t>• Matching books are labeled and shown in a detail card</a:t>
            </a:r>
          </a:p>
          <a:p>
            <a:r>
              <a:t>• This combines Sampling Lens and Labeling Lens</a:t>
            </a:r>
          </a:p>
        </p:txBody>
      </p:sp>
      <p:sp>
        <p:nvSpPr>
          <p:cNvPr id="5" name="Shape 3"/>
          <p:cNvSpPr/>
          <p:nvPr/>
        </p:nvSpPr>
        <p:spPr>
          <a:xfrm>
            <a:off x="4846320" y="1325880"/>
            <a:ext cx="3840480" cy="3246120"/>
          </a:xfrm>
          <a:prstGeom prst="roundRect">
            <a:avLst>
              <a:gd name="adj" fmla="val 2254"/>
            </a:avLst>
          </a:prstGeom>
          <a:solidFill>
            <a:srgbClr val="F3F6F8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304434" y="2071116"/>
            <a:ext cx="82296" cy="82296"/>
          </a:xfrm>
          <a:prstGeom prst="ellipse">
            <a:avLst/>
          </a:prstGeom>
          <a:solidFill>
            <a:srgbClr val="5B6572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516575" y="2777490"/>
            <a:ext cx="64008" cy="64008"/>
          </a:xfrm>
          <a:prstGeom prst="ellipse">
            <a:avLst/>
          </a:prstGeom>
          <a:solidFill>
            <a:srgbClr val="5B6572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705856" y="3461004"/>
            <a:ext cx="91440" cy="91440"/>
          </a:xfrm>
          <a:prstGeom prst="ellipse">
            <a:avLst/>
          </a:prstGeom>
          <a:solidFill>
            <a:srgbClr val="5B6572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053328" y="1852574"/>
            <a:ext cx="73152" cy="73152"/>
          </a:xfrm>
          <a:prstGeom prst="ellipse">
            <a:avLst/>
          </a:prstGeom>
          <a:solidFill>
            <a:srgbClr val="5B6572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909560" y="3744468"/>
            <a:ext cx="82296" cy="82296"/>
          </a:xfrm>
          <a:prstGeom prst="ellipse">
            <a:avLst/>
          </a:prstGeom>
          <a:solidFill>
            <a:srgbClr val="5B6572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069580" y="2563978"/>
            <a:ext cx="100584" cy="100584"/>
          </a:xfrm>
          <a:prstGeom prst="ellipse">
            <a:avLst/>
          </a:prstGeom>
          <a:solidFill>
            <a:srgbClr val="5B6572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749540" y="1940814"/>
            <a:ext cx="64008" cy="64008"/>
          </a:xfrm>
          <a:prstGeom prst="ellipse">
            <a:avLst/>
          </a:prstGeom>
          <a:solidFill>
            <a:srgbClr val="5B6572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150962" y="3191256"/>
            <a:ext cx="73152" cy="73152"/>
          </a:xfrm>
          <a:prstGeom prst="ellipse">
            <a:avLst/>
          </a:prstGeom>
          <a:solidFill>
            <a:srgbClr val="5B6572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376672" y="3888486"/>
            <a:ext cx="73152" cy="73152"/>
          </a:xfrm>
          <a:prstGeom prst="ellipse">
            <a:avLst/>
          </a:prstGeom>
          <a:solidFill>
            <a:srgbClr val="5B6572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217920" y="3967582"/>
            <a:ext cx="82296" cy="82296"/>
          </a:xfrm>
          <a:prstGeom prst="ellipse">
            <a:avLst/>
          </a:prstGeom>
          <a:solidFill>
            <a:srgbClr val="5B6572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411212" y="1801368"/>
            <a:ext cx="64008" cy="64008"/>
          </a:xfrm>
          <a:prstGeom prst="ellipse">
            <a:avLst/>
          </a:prstGeom>
          <a:solidFill>
            <a:srgbClr val="5B6572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308446" y="2367382"/>
            <a:ext cx="1051560" cy="1051560"/>
          </a:xfrm>
          <a:prstGeom prst="ellipse">
            <a:avLst/>
          </a:prstGeom>
          <a:solidFill>
            <a:srgbClr val="065A82">
              <a:alpha val="12000"/>
            </a:srgbClr>
          </a:solidFill>
          <a:ln w="25400">
            <a:solidFill>
              <a:srgbClr val="1C7293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500470" y="2970886"/>
            <a:ext cx="118872" cy="1188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239866" y="275143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4.2★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52514" y="2563978"/>
            <a:ext cx="146304" cy="14630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605626" y="234452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3.8★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039966" y="3025750"/>
            <a:ext cx="100584" cy="1005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770218" y="280629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47358" y="3144622"/>
            <a:ext cx="82296" cy="82296"/>
          </a:xfrm>
          <a:prstGeom prst="ellipse">
            <a:avLst/>
          </a:prstGeom>
          <a:solidFill>
            <a:srgbClr val="E887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846320" y="46451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 dirty="0"/>
              <a:t>local suppression + labeling </a:t>
            </a:r>
            <a:r>
              <a:rPr lang="de-DE" sz="1400" dirty="0"/>
              <a:t>at</a:t>
            </a:r>
            <a:r>
              <a:rPr sz="1400" dirty="0"/>
              <a:t> the lens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Information Visualization  ·  Medieninformatik, M.Sc.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6676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2C3E66"/>
                </a:solidFill>
              </a:rPr>
              <a:t>FOCUS REGION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dirty="0"/>
              <a:t>Zoom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dense</a:t>
            </a:r>
            <a:r>
              <a:rPr lang="de-DE" dirty="0"/>
              <a:t> </a:t>
            </a:r>
            <a:r>
              <a:rPr lang="de-DE" dirty="0" err="1"/>
              <a:t>areas</a:t>
            </a:r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63500" bIns="0" rtlCol="0" anchor="t"/>
          <a:lstStyle/>
          <a:p>
            <a:r>
              <a:rPr dirty="0"/>
              <a:t>• The rectangle selects a</a:t>
            </a:r>
            <a:r>
              <a:rPr lang="de-DE" dirty="0"/>
              <a:t> </a:t>
            </a:r>
            <a:r>
              <a:rPr lang="de-DE" dirty="0" err="1"/>
              <a:t>dense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interesting</a:t>
            </a:r>
            <a:r>
              <a:rPr dirty="0"/>
              <a:t> area</a:t>
            </a:r>
          </a:p>
          <a:p>
            <a:r>
              <a:rPr dirty="0"/>
              <a:t>• The lower chart </a:t>
            </a:r>
            <a:r>
              <a:rPr lang="de-DE" dirty="0" err="1"/>
              <a:t>zooms</a:t>
            </a:r>
            <a:r>
              <a:rPr lang="de-DE" dirty="0"/>
              <a:t> in</a:t>
            </a:r>
            <a:r>
              <a:rPr dirty="0"/>
              <a:t> this </a:t>
            </a:r>
            <a:r>
              <a:rPr lang="de-DE" dirty="0" err="1"/>
              <a:t>region</a:t>
            </a:r>
            <a:endParaRPr dirty="0"/>
          </a:p>
          <a:p>
            <a:r>
              <a:rPr dirty="0"/>
              <a:t>• The region can be moved and resized</a:t>
            </a:r>
          </a:p>
          <a:p>
            <a:r>
              <a:rPr dirty="0"/>
              <a:t>• Useful when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too</a:t>
            </a:r>
            <a:r>
              <a:rPr lang="de-DE" dirty="0"/>
              <a:t> </a:t>
            </a:r>
            <a:r>
              <a:rPr lang="de-DE" dirty="0" err="1"/>
              <a:t>close</a:t>
            </a:r>
            <a:r>
              <a:rPr lang="de-DE" dirty="0"/>
              <a:t> </a:t>
            </a:r>
            <a:r>
              <a:rPr lang="de-DE" dirty="0" err="1"/>
              <a:t>together</a:t>
            </a:r>
            <a:endParaRPr dirty="0"/>
          </a:p>
          <a:p>
            <a:r>
              <a:rPr dirty="0"/>
              <a:t>• Supports </a:t>
            </a: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inspection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losing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dirty="0"/>
              <a:t>overview</a:t>
            </a:r>
          </a:p>
        </p:txBody>
      </p:sp>
      <p:sp>
        <p:nvSpPr>
          <p:cNvPr id="5" name="Shape 3"/>
          <p:cNvSpPr/>
          <p:nvPr/>
        </p:nvSpPr>
        <p:spPr>
          <a:xfrm>
            <a:off x="4846320" y="1325880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F3F6F8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376672" y="1842516"/>
            <a:ext cx="73152" cy="73152"/>
          </a:xfrm>
          <a:prstGeom prst="ellipse">
            <a:avLst/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656478" y="2221992"/>
            <a:ext cx="54864" cy="54864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976518" y="1956816"/>
            <a:ext cx="91440" cy="91440"/>
          </a:xfrm>
          <a:prstGeom prst="ellipse">
            <a:avLst/>
          </a:prstGeom>
          <a:solidFill>
            <a:srgbClr val="E8871E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072884" y="2340864"/>
            <a:ext cx="64008" cy="64008"/>
          </a:xfrm>
          <a:prstGeom prst="ellipse">
            <a:avLst/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334402" y="2023110"/>
            <a:ext cx="82296" cy="82296"/>
          </a:xfrm>
          <a:prstGeom prst="ellipse">
            <a:avLst/>
          </a:prstGeom>
          <a:solidFill>
            <a:srgbClr val="5FA8D3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686446" y="2407158"/>
            <a:ext cx="54864" cy="54864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947965" y="1904238"/>
            <a:ext cx="73152" cy="73152"/>
          </a:xfrm>
          <a:prstGeom prst="ellipse">
            <a:avLst/>
          </a:prstGeom>
          <a:solidFill>
            <a:srgbClr val="8AA6A3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565392" y="1785366"/>
            <a:ext cx="64008" cy="64008"/>
          </a:xfrm>
          <a:prstGeom prst="ellipse">
            <a:avLst/>
          </a:prstGeom>
          <a:solidFill>
            <a:srgbClr val="E8871E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092440" y="2221992"/>
            <a:ext cx="54864" cy="54864"/>
          </a:xfrm>
          <a:prstGeom prst="ellipse">
            <a:avLst/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157570" y="1632204"/>
            <a:ext cx="1420978" cy="678942"/>
          </a:xfrm>
          <a:prstGeom prst="rect">
            <a:avLst/>
          </a:prstGeom>
          <a:ln w="25400">
            <a:solidFill>
              <a:srgbClr val="E887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157570" y="2311146"/>
            <a:ext cx="0" cy="934974"/>
          </a:xfrm>
          <a:prstGeom prst="line">
            <a:avLst/>
          </a:prstGeom>
          <a:noFill/>
          <a:ln w="12700">
            <a:solidFill>
              <a:srgbClr val="E8871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578547" y="2311146"/>
            <a:ext cx="971093" cy="934974"/>
          </a:xfrm>
          <a:prstGeom prst="line">
            <a:avLst/>
          </a:prstGeom>
          <a:noFill/>
          <a:ln w="12700">
            <a:solidFill>
              <a:srgbClr val="E8871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846320" y="324612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8871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870448" y="3685032"/>
            <a:ext cx="146304" cy="14630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707124" y="3845052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276795" y="3602736"/>
            <a:ext cx="164592" cy="164592"/>
          </a:xfrm>
          <a:prstGeom prst="ellipse">
            <a:avLst/>
          </a:prstGeom>
          <a:solidFill>
            <a:srgbClr val="5FA8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769657" y="3890772"/>
            <a:ext cx="100584" cy="1005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846320" y="44165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/>
              <a:t>focus region → </a:t>
            </a:r>
            <a:r>
              <a:rPr lang="de-DE" dirty="0" err="1"/>
              <a:t>zoomed</a:t>
            </a:r>
            <a:r>
              <a:rPr dirty="0"/>
              <a:t> view</a:t>
            </a:r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Information Visualization  ·  Medieninformatik, M.Sc.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6676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1025</Words>
  <Application>Microsoft Office PowerPoint</Application>
  <PresentationFormat>Bildschirmpräsentation (16:9)</PresentationFormat>
  <Paragraphs>150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Goodreads Books Dataset — Interactive Visualization</dc:title>
  <dc:subject>PptxGenJS Presentation</dc:subject>
  <dc:creator>Interactive Information Visualization</dc:creator>
  <cp:lastModifiedBy>stefano strino</cp:lastModifiedBy>
  <cp:revision>3</cp:revision>
  <dcterms:created xsi:type="dcterms:W3CDTF">2026-07-08T00:52:45Z</dcterms:created>
  <dcterms:modified xsi:type="dcterms:W3CDTF">2026-07-08T09:53:18Z</dcterms:modified>
</cp:coreProperties>
</file>